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960120"/>
            <a:ext cx="109728" cy="4206240"/>
          </a:xfrm>
          <a:prstGeom prst="rect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143000"/>
            <a:ext cx="98755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B4C5ED"/>
                </a:solidFill>
                <a:latin typeface="Aptos"/>
              </a:defRPr>
            </a:pPr>
            <a:r>
              <a:t>DEVSECOPS CAPSTONE  ·  SESSION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9875520" cy="10241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4300" b="1">
                <a:solidFill>
                  <a:srgbClr val="FFFFFF"/>
                </a:solidFill>
                <a:latin typeface="Aptos Display"/>
              </a:defRPr>
            </a:pPr>
            <a:r>
              <a:t>Campus Helpdesk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3054096"/>
            <a:ext cx="950976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8E0F2"/>
                </a:solidFill>
                <a:latin typeface="Aptos"/>
              </a:defRPr>
            </a:pPr>
            <a:r>
              <a:t>From a support request to a monitored cloud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5230368"/>
            <a:ext cx="896112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FCCE7"/>
                </a:solidFill>
                <a:latin typeface="Aptos"/>
              </a:defRPr>
            </a:pPr>
            <a:r>
              <a:t>React  ·  FastAPI  ·  PostgreSQL  ·  Docker  ·  AWS EKS  ·  Argo CD  ·  Prometheus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7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01  |  The problem and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AD3E7"/>
                </a:solidFill>
                <a:latin typeface="Aptos"/>
              </a:defRPr>
            </a:pPr>
            <a:r>
              <a:t>A realistic campus service desk—not a generic task CRUD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70788B"/>
                </a:solidFill>
                <a:latin typeface="Aptos"/>
              </a:defRPr>
            </a:pPr>
            <a:r>
              <a:t>CAMPUS HELPDESK  ·  DEVSECOPS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78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74720" cy="182880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91056"/>
            <a:ext cx="73152" cy="1755648"/>
          </a:xfrm>
          <a:prstGeom prst="rect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312724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3127248" cy="11155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Report classroom, IT, facilities, and account issues with a clear priority.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54480"/>
            <a:ext cx="3474720" cy="182880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591056"/>
            <a:ext cx="73152" cy="1755648"/>
          </a:xfrm>
          <a:prstGeom prst="rect">
            <a:avLst/>
          </a:prstGeom>
          <a:solidFill>
            <a:srgbClr val="47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19072"/>
            <a:ext cx="312724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Service 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76272"/>
            <a:ext cx="3127248" cy="11155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Triage requests, assign an owner, update status, and close resolved tickets.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554480"/>
            <a:ext cx="3474720" cy="182880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591056"/>
            <a:ext cx="73152" cy="1755648"/>
          </a:xfrm>
          <a:prstGeom prst="rect">
            <a:avLst/>
          </a:prstGeom>
          <a:solidFill>
            <a:srgbClr val="E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1719072"/>
            <a:ext cx="312724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Service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176272"/>
            <a:ext cx="3127248" cy="11155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See queue volume, urgent work, aging requests, and service health.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77639"/>
            <a:ext cx="10241280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A3143"/>
                </a:solidFill>
                <a:latin typeface="Aptos"/>
              </a:defRPr>
            </a:pPr>
            <a:r>
              <a:t>Goal: connect the application workflow to the engineering workflow—tests, secure image delivery, infrastructure as code, GitOps deployment, and observable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7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02  |  Application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AD3E7"/>
                </a:solidFill>
                <a:latin typeface="Aptos"/>
              </a:defRPr>
            </a:pPr>
            <a:r>
              <a:t>The support lifecycle is visible in both the UI and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70788B"/>
                </a:solidFill>
                <a:latin typeface="Aptos"/>
              </a:defRPr>
            </a:pPr>
            <a:r>
              <a:t>CAMPUS HELPDESK  ·  DEVSECOPS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78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72768"/>
            <a:ext cx="2487168" cy="141732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609344"/>
            <a:ext cx="73152" cy="1344168"/>
          </a:xfrm>
          <a:prstGeom prst="rect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2139696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1 ·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139696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Category, description, requester, and priority.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72768"/>
            <a:ext cx="2487168" cy="141732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609344"/>
            <a:ext cx="73152" cy="1344168"/>
          </a:xfrm>
          <a:prstGeom prst="rect">
            <a:avLst/>
          </a:prstGeom>
          <a:solidFill>
            <a:srgbClr val="E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1737360"/>
            <a:ext cx="2139696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2 ·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194560"/>
            <a:ext cx="2139696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Search the queue; classify and assign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61888" y="1572768"/>
            <a:ext cx="2487168" cy="141732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61888" y="1609344"/>
            <a:ext cx="73152" cy="1344168"/>
          </a:xfrm>
          <a:prstGeom prst="rect">
            <a:avLst/>
          </a:prstGeom>
          <a:solidFill>
            <a:srgbClr val="47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5" y="1737360"/>
            <a:ext cx="2139696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3 · Resolve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5" y="2194560"/>
            <a:ext cx="2139696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Move through open, in progress, waiting, resolved.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86216" y="1572768"/>
            <a:ext cx="2487168" cy="141732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86216" y="1609344"/>
            <a:ext cx="73152" cy="1344168"/>
          </a:xfrm>
          <a:prstGeom prst="rect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87384" y="1737360"/>
            <a:ext cx="2139696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4 · 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7384" y="2194560"/>
            <a:ext cx="2139696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Monitor ticket counts, SLA age, and API health.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0" y="2286000"/>
            <a:ext cx="118872" cy="0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24728" y="2286000"/>
            <a:ext cx="118872" cy="0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49056" y="2286000"/>
            <a:ext cx="118872" cy="0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22960" y="3840479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749039"/>
            <a:ext cx="1024128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143"/>
                </a:solidFill>
                <a:latin typeface="Aptos"/>
              </a:defRPr>
            </a:pPr>
            <a:r>
              <a:t>REST API supports ticket list, filters/search, create, read, partial update, delete, and stats.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4407407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315968"/>
            <a:ext cx="1024128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143"/>
                </a:solidFill>
                <a:latin typeface="Aptos"/>
              </a:defRPr>
            </a:pPr>
            <a:r>
              <a:t>PostgreSQL stores durable tickets; Alembic manages schema changes.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4974336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882896"/>
            <a:ext cx="1024128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143"/>
                </a:solidFill>
                <a:latin typeface="Aptos"/>
              </a:defRPr>
            </a:pPr>
            <a:r>
              <a:t>FastAPI validates request shape and publishes OpenAPI documentation.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7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03  |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AD3E7"/>
                </a:solidFill>
                <a:latin typeface="Aptos"/>
              </a:defRPr>
            </a:pPr>
            <a:r>
              <a:t>One product, one deployable path, explicit service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70788B"/>
                </a:solidFill>
                <a:latin typeface="Aptos"/>
              </a:defRPr>
            </a:pPr>
            <a:r>
              <a:t>CAMPUS HELPDESK  ·  DEVSECOPS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78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993392" cy="109728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53896"/>
            <a:ext cx="73152" cy="1024127"/>
          </a:xfrm>
          <a:prstGeom prst="rect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581912"/>
            <a:ext cx="164592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039112"/>
            <a:ext cx="1645920" cy="3840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React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417320"/>
            <a:ext cx="2057400" cy="109728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1453896"/>
            <a:ext cx="73152" cy="1024127"/>
          </a:xfrm>
          <a:prstGeom prst="rect">
            <a:avLst/>
          </a:prstGeom>
          <a:solidFill>
            <a:srgbClr val="E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1581912"/>
            <a:ext cx="170992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Ingress / NGINX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2039112"/>
            <a:ext cx="1709928" cy="3840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Route / and /api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417320"/>
            <a:ext cx="2057400" cy="109728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49240" y="1453896"/>
            <a:ext cx="73152" cy="1024127"/>
          </a:xfrm>
          <a:prstGeom prst="rect">
            <a:avLst/>
          </a:prstGeom>
          <a:solidFill>
            <a:srgbClr val="47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7" y="1581912"/>
            <a:ext cx="170992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0407" y="2039112"/>
            <a:ext cx="1709928" cy="3840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REST + health +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417320"/>
            <a:ext cx="1828800" cy="109728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1453896"/>
            <a:ext cx="73152" cy="1024127"/>
          </a:xfrm>
          <a:prstGeom prst="rect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1581912"/>
            <a:ext cx="148132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2039112"/>
            <a:ext cx="1481328" cy="3840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Persistent ticket store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1417320"/>
            <a:ext cx="1691640" cy="109728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66960" y="1453896"/>
            <a:ext cx="73152" cy="1024127"/>
          </a:xfrm>
          <a:prstGeom prst="rect">
            <a:avLst/>
          </a:prstGeom>
          <a:solidFill>
            <a:srgbClr val="E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68128" y="1581912"/>
            <a:ext cx="134416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8128" y="2039112"/>
            <a:ext cx="1344168" cy="3840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Prometheus + Grafana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14600" y="1965960"/>
            <a:ext cx="338328" cy="0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937760" y="1965960"/>
            <a:ext cx="384048" cy="0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06640" y="1965960"/>
            <a:ext cx="384048" cy="0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15200" y="2542032"/>
            <a:ext cx="2724912" cy="338328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77240" y="3794760"/>
            <a:ext cx="3246120" cy="132588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3831336"/>
            <a:ext cx="73152" cy="1252728"/>
          </a:xfrm>
          <a:prstGeom prst="rect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3959352"/>
            <a:ext cx="289864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GitHub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4416552"/>
            <a:ext cx="2898648" cy="6126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pytest → Vite build → container build → Trivy → GHCR SHA tags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3794760"/>
            <a:ext cx="3246120" cy="132588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80560" y="3831336"/>
            <a:ext cx="73152" cy="1252728"/>
          </a:xfrm>
          <a:prstGeom prst="rect">
            <a:avLst/>
          </a:prstGeom>
          <a:solidFill>
            <a:srgbClr val="E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8" y="3959352"/>
            <a:ext cx="289864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Terraform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416552"/>
            <a:ext cx="2898648" cy="6126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AWS VPC, subnets, NAT, EKS, and managed workers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9" y="3794760"/>
            <a:ext cx="3246120" cy="132588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79" y="3831336"/>
            <a:ext cx="73152" cy="1252728"/>
          </a:xfrm>
          <a:prstGeom prst="rect">
            <a:avLst/>
          </a:prstGeom>
          <a:solidFill>
            <a:srgbClr val="47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5048" y="3959352"/>
            <a:ext cx="289864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Argo CD + Helm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8" y="4416552"/>
            <a:ext cx="2898648" cy="6126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Git is desired state; Argo CD reconciles the Kubernetes release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023360" y="4462272"/>
            <a:ext cx="438912" cy="0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726679" y="4462272"/>
            <a:ext cx="438913" cy="0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7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04  |  Technology and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AD3E7"/>
                </a:solidFill>
                <a:latin typeface="Aptos"/>
              </a:defRPr>
            </a:pPr>
            <a:r>
              <a:t>The folder structure maps to the system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70788B"/>
                </a:solidFill>
                <a:latin typeface="Aptos"/>
              </a:defRPr>
            </a:pPr>
            <a:r>
              <a:t>CAMPUS HELPDESK  ·  DEVSECOPS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78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66360" cy="132588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73152" cy="1252728"/>
          </a:xfrm>
          <a:prstGeom prst="rect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481888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84832"/>
            <a:ext cx="4818888" cy="6126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frontend/ React + Vite · backend/ FastAPI + SQLAlchemy · PostgreSQL + Alembic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5166360" cy="132588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99616"/>
            <a:ext cx="73152" cy="1252728"/>
          </a:xfrm>
          <a:prstGeom prst="rect">
            <a:avLst/>
          </a:prstGeom>
          <a:solidFill>
            <a:srgbClr val="47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627632"/>
            <a:ext cx="481888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Quality and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084832"/>
            <a:ext cx="4818888" cy="6126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.github/workflows/ CI · pytest · npm build · Dockerfiles · Trivy · GHCR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90672"/>
            <a:ext cx="5166360" cy="132588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127248"/>
            <a:ext cx="73152" cy="1252728"/>
          </a:xfrm>
          <a:prstGeom prst="rect">
            <a:avLst/>
          </a:prstGeom>
          <a:solidFill>
            <a:srgbClr val="E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255264"/>
            <a:ext cx="481888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Infrastructure and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712463"/>
            <a:ext cx="4818888" cy="6126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terraform/ AWS · helm/campus-helpdesk/ chart · k8s/ namespace · argocd/ 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090672"/>
            <a:ext cx="5166360" cy="132588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127248"/>
            <a:ext cx="73152" cy="1252728"/>
          </a:xfrm>
          <a:prstGeom prst="rect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255264"/>
            <a:ext cx="481888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Operations and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712463"/>
            <a:ext cx="4818888" cy="6126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monitoring/ Prometheus + Grafana · troubleshooting/ labs · docs/screenshots/ · demo/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00584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A3143"/>
                </a:solidFill>
                <a:latin typeface="Aptos"/>
              </a:defRPr>
            </a:pPr>
            <a:r>
              <a:t>The README is organized by course module (M1–M10) so reviewers can connect each claim to commands, implementation files, and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7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05  |  CI/CD and container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AD3E7"/>
                </a:solidFill>
                <a:latin typeface="Aptos"/>
              </a:defRPr>
            </a:pPr>
            <a:r>
              <a:t>Tests and security checks are gates—not decoration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70788B"/>
                </a:solidFill>
                <a:latin typeface="Aptos"/>
              </a:defRPr>
            </a:pPr>
            <a:r>
              <a:t>CAMPUS HELPDESK  ·  DEVSECOPS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78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08760"/>
            <a:ext cx="2423160" cy="141732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545336"/>
            <a:ext cx="73152" cy="1344168"/>
          </a:xfrm>
          <a:prstGeom prst="rect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1"/>
            <a:ext cx="207568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Pull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2075688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Run API tests and frontend production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508760"/>
            <a:ext cx="2423160" cy="141732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545336"/>
            <a:ext cx="73152" cy="1344168"/>
          </a:xfrm>
          <a:prstGeom prst="rect">
            <a:avLst/>
          </a:prstGeom>
          <a:solidFill>
            <a:srgbClr val="E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673351"/>
            <a:ext cx="207568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Build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130552"/>
            <a:ext cx="2075688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Backend and multi-stage, non-root frontend.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70448" y="1508760"/>
            <a:ext cx="2423160" cy="141732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70448" y="1545336"/>
            <a:ext cx="73152" cy="1344168"/>
          </a:xfrm>
          <a:prstGeom prst="rect">
            <a:avLst/>
          </a:prstGeom>
          <a:solidFill>
            <a:srgbClr val="47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1673351"/>
            <a:ext cx="207568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Trivy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1616" y="2130552"/>
            <a:ext cx="2075688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Block HIGH / CRITICAL vulnerabilities.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49056" y="1508760"/>
            <a:ext cx="2423160" cy="141732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49056" y="1545336"/>
            <a:ext cx="73152" cy="1344168"/>
          </a:xfrm>
          <a:prstGeom prst="rect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0224" y="1673351"/>
            <a:ext cx="207568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Publish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0224" y="2130552"/>
            <a:ext cx="2075688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GHCR packages tagged by commit SHA.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36392" y="2221992"/>
            <a:ext cx="137160" cy="0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15000" y="2221992"/>
            <a:ext cx="137160" cy="0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93608" y="2221992"/>
            <a:ext cx="137160" cy="0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22960" y="3794759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703320"/>
            <a:ext cx="102412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143"/>
                </a:solidFill>
                <a:latin typeface="Aptos"/>
              </a:defRPr>
            </a:pPr>
            <a:r>
              <a:t>Fail fast on test/build errors: an untested revision does not become a release image.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4389120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297680"/>
            <a:ext cx="102412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143"/>
                </a:solidFill>
                <a:latin typeface="Aptos"/>
              </a:defRPr>
            </a:pPr>
            <a:r>
              <a:t>Use immutable tags to trace each runtime image back to a source commit.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4983479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892040"/>
            <a:ext cx="102412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143"/>
                </a:solidFill>
                <a:latin typeface="Aptos"/>
              </a:defRPr>
            </a:pPr>
            <a:r>
              <a:t>Argo CD watches the deployment configuration and reports sync/health separately.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7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06  |  Terraform, Kubernetes, and GitOps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AD3E7"/>
                </a:solidFill>
                <a:latin typeface="Aptos"/>
              </a:defRPr>
            </a:pPr>
            <a:r>
              <a:t>Infrastructure creates the cluster; GitOps continuously reconciles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70788B"/>
                </a:solidFill>
                <a:latin typeface="Aptos"/>
              </a:defRPr>
            </a:pPr>
            <a:r>
              <a:t>CAMPUS HELPDESK  ·  DEVSECOPS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78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291840" cy="141732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45336"/>
            <a:ext cx="73152" cy="1344168"/>
          </a:xfrm>
          <a:prstGeom prst="rect">
            <a:avLst/>
          </a:prstGeom>
          <a:solidFill>
            <a:srgbClr val="E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73351"/>
            <a:ext cx="294436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Terraform → 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30552"/>
            <a:ext cx="2944368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VPC · public/private subnets · NAT · EKS · managed node group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3291840" cy="141732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45336"/>
            <a:ext cx="73152" cy="1344168"/>
          </a:xfrm>
          <a:prstGeom prst="rect">
            <a:avLst/>
          </a:prstGeom>
          <a:solidFill>
            <a:srgbClr val="47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673351"/>
            <a:ext cx="294436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Argo CD → Helm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130552"/>
            <a:ext cx="2944368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Watch the Git path and sync the declared Helm release.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3291840" cy="141732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45336"/>
            <a:ext cx="73152" cy="1344168"/>
          </a:xfrm>
          <a:prstGeom prst="rect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673351"/>
            <a:ext cx="294436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Kubernetes 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130552"/>
            <a:ext cx="2944368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UI/API Deployments · Services · Ingress · PostgreSQL PVC · HPA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23360" y="2221992"/>
            <a:ext cx="384048" cy="0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26679" y="2221992"/>
            <a:ext cx="384048" cy="0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22960" y="3749039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657600"/>
            <a:ext cx="1024128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143"/>
                </a:solidFill>
                <a:latin typeface="Aptos"/>
              </a:defRPr>
            </a:pPr>
            <a:r>
              <a:t>Readiness protects traffic routing; liveness detects a stuck process.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352544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261104"/>
            <a:ext cx="1024128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143"/>
                </a:solidFill>
                <a:latin typeface="Aptos"/>
              </a:defRPr>
            </a:pPr>
            <a:r>
              <a:t>HPA needs CPU resource requests and a working metrics provider.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4956048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64608"/>
            <a:ext cx="1024128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143"/>
                </a:solidFill>
                <a:latin typeface="Aptos"/>
              </a:defRPr>
            </a:pPr>
            <a:r>
              <a:t>A local cluster is useful for learning, but does not prove AWS EKS was deployed.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7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07  | 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AD3E7"/>
                </a:solidFill>
                <a:latin typeface="Aptos"/>
              </a:defRPr>
            </a:pPr>
            <a:r>
              <a:t>Measure user-visible behavior and service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70788B"/>
                </a:solidFill>
                <a:latin typeface="Aptos"/>
              </a:defRPr>
            </a:pPr>
            <a:r>
              <a:t>CAMPUS HELPDESK  ·  DEVSECOPS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78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291840" cy="155448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91056"/>
            <a:ext cx="73152" cy="1481328"/>
          </a:xfrm>
          <a:prstGeom prst="rect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19072"/>
            <a:ext cx="294436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FastAPI /metrics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2944368" cy="8412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HTTP request totals, status codes, and duration histograms.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291840" cy="155448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91056"/>
            <a:ext cx="73152" cy="1481328"/>
          </a:xfrm>
          <a:prstGeom prst="rect">
            <a:avLst/>
          </a:prstGeom>
          <a:solidFill>
            <a:srgbClr val="E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719072"/>
            <a:ext cx="294436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Prometheus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176272"/>
            <a:ext cx="2944368" cy="8412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Scrapes the app through local config or Kubernetes ServiceMonitor.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291840" cy="1554480"/>
          </a:xfrm>
          <a:prstGeom prst="roundRect">
            <a:avLst/>
          </a:prstGeom>
          <a:solidFill>
            <a:srgbClr val="EFF3FC"/>
          </a:solidFill>
          <a:ln>
            <a:solidFill>
              <a:srgbClr val="DE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91056"/>
            <a:ext cx="73152" cy="1481328"/>
          </a:xfrm>
          <a:prstGeom prst="rect">
            <a:avLst/>
          </a:prstGeom>
          <a:solidFill>
            <a:srgbClr val="47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719072"/>
            <a:ext cx="294436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3143"/>
                </a:solidFill>
                <a:latin typeface="Aptos"/>
              </a:defRPr>
            </a:pPr>
            <a:r>
              <a:t>Grafana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176272"/>
            <a:ext cx="2944368" cy="8412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70788B"/>
                </a:solidFill>
                <a:latin typeface="Aptos"/>
              </a:defRPr>
            </a:pPr>
            <a:r>
              <a:t>Visualizes throughput, p95 latency, errors, and activity.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23360" y="2331720"/>
            <a:ext cx="384048" cy="0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26679" y="2331720"/>
            <a:ext cx="384048" cy="0"/>
          </a:xfrm>
          <a:prstGeom prst="line">
            <a:avLst/>
          </a:prstGeom>
          <a:ln w="25400">
            <a:solidFill>
              <a:srgbClr val="496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22960" y="3977639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886200"/>
            <a:ext cx="1024128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143"/>
                </a:solidFill>
                <a:latin typeface="Aptos"/>
              </a:defRPr>
            </a:pPr>
            <a:r>
              <a:t>Check the Prometheus Targets page: the service should be UP.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581144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489704"/>
            <a:ext cx="1024128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143"/>
                </a:solidFill>
                <a:latin typeface="Aptos"/>
              </a:defRPr>
            </a:pPr>
            <a:r>
              <a:t>Generate controlled API traffic and watch time-series panels update.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5184648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093208"/>
            <a:ext cx="10241280" cy="603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143"/>
                </a:solidFill>
                <a:latin typeface="Aptos"/>
              </a:defRPr>
            </a:pPr>
            <a:r>
              <a:t>Metrics explain traffic and behavior; health endpoints answer different probe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7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1097280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08  |  Evidence, demo, and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246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AD3E7"/>
                </a:solidFill>
                <a:latin typeface="Aptos"/>
              </a:defRPr>
            </a:pPr>
            <a:r>
              <a:t>Screenshots and recording must show real command output and deployed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800" b="1">
                <a:solidFill>
                  <a:srgbClr val="70788B"/>
                </a:solidFill>
                <a:latin typeface="Aptos"/>
              </a:defRPr>
            </a:pPr>
            <a:r>
              <a:t>CAMPUS HELPDESK  ·  DEVSECOPS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7078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691640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00200"/>
            <a:ext cx="10149840" cy="7223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143"/>
                </a:solidFill>
                <a:latin typeface="Aptos"/>
              </a:defRPr>
            </a:pPr>
            <a:r>
              <a:t>Capture terminal commands with your actual prompt/username and host visible.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414016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22576"/>
            <a:ext cx="10149840" cy="7223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143"/>
                </a:solidFill>
                <a:latin typeface="Aptos"/>
              </a:defRPr>
            </a:pPr>
            <a:r>
              <a:t>Show CI, Trivy, GHCR, Terraform/AWS, Argo CD, Kubernetes/Ingress, Prometheus, and Grafana.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136392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044952"/>
            <a:ext cx="10149840" cy="7223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143"/>
                </a:solidFill>
                <a:latin typeface="Aptos"/>
              </a:defRPr>
            </a:pPr>
            <a:r>
              <a:t>Keep a screenshot index and match each image to a genuine command or UI page.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858768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767328"/>
            <a:ext cx="10149840" cy="7223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143"/>
                </a:solidFill>
                <a:latin typeface="Aptos"/>
              </a:defRPr>
            </a:pPr>
            <a:r>
              <a:t>Never expose credentials; destroy billable infrastructure when the demonstration ends.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109728" cy="109728"/>
          </a:xfrm>
          <a:prstGeom prst="ellipse">
            <a:avLst/>
          </a:prstGeom>
          <a:solidFill>
            <a:srgbClr val="496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489704"/>
            <a:ext cx="10149840" cy="7223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143"/>
                </a:solidFill>
                <a:latin typeface="Aptos"/>
              </a:defRPr>
            </a:pPr>
            <a:r>
              <a:t>Explain what ran locally versus in AWS, and call out remaining limitations honestly.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2412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96CE1"/>
                </a:solidFill>
                <a:latin typeface="Aptos"/>
              </a:defRPr>
            </a:pPr>
            <a:r>
              <a:t>Key lesson: a reliable delivery path connects source, tests, artifacts, infrastructure, deployment, and observability.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